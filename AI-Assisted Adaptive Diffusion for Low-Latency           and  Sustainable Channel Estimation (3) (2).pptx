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8288000" cy="10287000"/>
  <p:notesSz cx="6858000" cy="9144000"/>
  <p:embeddedFontLst>
    <p:embeddedFont>
      <p:font typeface="Barlow Condensed" panose="00000506000000000000" pitchFamily="2" charset="0"/>
      <p:regular r:id="rId50"/>
    </p:embeddedFont>
    <p:embeddedFont>
      <p:font typeface="Barlow Condensed Bold" panose="00000806000000000000" charset="0"/>
      <p:regular r:id="rId51"/>
    </p:embeddedFont>
    <p:embeddedFont>
      <p:font typeface="Barlow Condensed Semi-Bold" panose="020B0604020202020204" charset="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7875" y="1857529"/>
            <a:ext cx="13654629" cy="159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9"/>
              </a:lnSpc>
            </a:pPr>
            <a:r>
              <a:rPr lang="en-US" sz="5708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AI-ASSISTED ADAPTIVE DIFFUSION </a:t>
            </a:r>
            <a:r>
              <a:rPr lang="en-US" sz="5708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FOR LOW-LATENCY </a:t>
            </a:r>
          </a:p>
          <a:p>
            <a:pPr algn="l">
              <a:lnSpc>
                <a:spcPts val="6279"/>
              </a:lnSpc>
            </a:pPr>
            <a:r>
              <a:rPr lang="en-US" sz="5708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         AND  SUSTAINABLE CHANNEL ESTIMATION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6239384" y="288247"/>
            <a:ext cx="5446534" cy="1378783"/>
          </a:xfrm>
          <a:custGeom>
            <a:avLst/>
            <a:gdLst/>
            <a:ahLst/>
            <a:cxnLst/>
            <a:rect l="l" t="t" r="r" b="b"/>
            <a:pathLst>
              <a:path w="5446534" h="1378783">
                <a:moveTo>
                  <a:pt x="0" y="0"/>
                </a:moveTo>
                <a:lnTo>
                  <a:pt x="5446534" y="0"/>
                </a:lnTo>
                <a:lnTo>
                  <a:pt x="5446534" y="1378782"/>
                </a:lnTo>
                <a:lnTo>
                  <a:pt x="0" y="1378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7522845"/>
            <a:ext cx="9314496" cy="173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NITHUJAA J    23BEC1354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GOPIKA A        23BEC1357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DHANYA S       23BEC1432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51272" y="9182100"/>
            <a:ext cx="9314496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Unveiling the Channel estimation Framework...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431" y="4520328"/>
            <a:ext cx="14397337" cy="639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0"/>
              </a:lnSpc>
              <a:spcBef>
                <a:spcPct val="0"/>
              </a:spcBef>
            </a:pPr>
            <a:r>
              <a:rPr lang="en-US" sz="333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Course Title : Artificial Intelligence and 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4431" y="5319539"/>
            <a:ext cx="13804068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Dr. PRAVEEN JARAUT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79194" y="5938030"/>
            <a:ext cx="3729612" cy="4142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  <a:spcBef>
                <a:spcPct val="0"/>
              </a:spcBef>
            </a:pPr>
            <a:r>
              <a:rPr lang="en-US" sz="3407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SENSE – ECE</a:t>
            </a:r>
          </a:p>
          <a:p>
            <a:pPr algn="ctr">
              <a:lnSpc>
                <a:spcPts val="5452"/>
              </a:lnSpc>
              <a:spcBef>
                <a:spcPct val="0"/>
              </a:spcBef>
            </a:pPr>
            <a:r>
              <a:rPr lang="en-US" sz="3407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April 2026</a:t>
            </a:r>
          </a:p>
          <a:p>
            <a:pPr algn="ctr">
              <a:lnSpc>
                <a:spcPts val="5452"/>
              </a:lnSpc>
              <a:spcBef>
                <a:spcPct val="0"/>
              </a:spcBef>
            </a:pPr>
            <a:r>
              <a:rPr lang="en-US" sz="3407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2025-26 Winter Semester</a:t>
            </a:r>
          </a:p>
          <a:p>
            <a:pPr algn="ctr">
              <a:lnSpc>
                <a:spcPts val="5452"/>
              </a:lnSpc>
              <a:spcBef>
                <a:spcPct val="0"/>
              </a:spcBef>
            </a:pPr>
            <a:r>
              <a:rPr lang="en-US" sz="3407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Review 3- DA 3</a:t>
            </a:r>
          </a:p>
          <a:p>
            <a:pPr algn="ctr">
              <a:lnSpc>
                <a:spcPts val="5452"/>
              </a:lnSpc>
              <a:spcBef>
                <a:spcPct val="0"/>
              </a:spcBef>
            </a:pPr>
            <a:r>
              <a:rPr lang="en-US" sz="3407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Group 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2791" y="3880987"/>
            <a:ext cx="14397337" cy="639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0"/>
              </a:lnSpc>
              <a:spcBef>
                <a:spcPct val="0"/>
              </a:spcBef>
            </a:pPr>
            <a:r>
              <a:rPr lang="en-US" sz="333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Course Code : BECE309L-D2+TD2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92000" y="7074347"/>
            <a:ext cx="162052" cy="162052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630350" y="1274702"/>
            <a:ext cx="775672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54295" y="6704838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Software Requirements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54295" y="7462520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Future Scope and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54295" y="8220202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Literature review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192000" y="7696771"/>
            <a:ext cx="162052" cy="162052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192000" y="8454453"/>
            <a:ext cx="162052" cy="162052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192000" y="3180019"/>
            <a:ext cx="162052" cy="162052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7954295" y="2945768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Sustainable development goals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4295" y="3703450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54295" y="4461132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Block diagram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54295" y="5320287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Methodology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54295" y="6077969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Inputs and Outputs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192000" y="3937701"/>
            <a:ext cx="162052" cy="162052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192000" y="4695383"/>
            <a:ext cx="162052" cy="162052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7192000" y="5554538"/>
            <a:ext cx="162052" cy="162052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192000" y="6312220"/>
            <a:ext cx="162052" cy="162052"/>
            <a:chOff x="0" y="0"/>
            <a:chExt cx="6350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192000" y="2465072"/>
            <a:ext cx="162052" cy="162052"/>
            <a:chOff x="0" y="0"/>
            <a:chExt cx="6350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833415" y="2089152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192000" y="9143112"/>
            <a:ext cx="162052" cy="162052"/>
            <a:chOff x="0" y="0"/>
            <a:chExt cx="6350000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C0DA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7954295" y="8848217"/>
            <a:ext cx="4642203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2544" y="2119986"/>
            <a:ext cx="15326756" cy="7014577"/>
          </a:xfrm>
          <a:custGeom>
            <a:avLst/>
            <a:gdLst/>
            <a:ahLst/>
            <a:cxnLst/>
            <a:rect l="l" t="t" r="r" b="b"/>
            <a:pathLst>
              <a:path w="15326756" h="7014577">
                <a:moveTo>
                  <a:pt x="0" y="0"/>
                </a:moveTo>
                <a:lnTo>
                  <a:pt x="15326756" y="0"/>
                </a:lnTo>
                <a:lnTo>
                  <a:pt x="15326756" y="7014578"/>
                </a:lnTo>
                <a:lnTo>
                  <a:pt x="0" y="7014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6" t="-5529" b="-552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49324" y="1028700"/>
            <a:ext cx="775672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54023" y="1820340"/>
            <a:ext cx="11387419" cy="8115300"/>
          </a:xfrm>
          <a:custGeom>
            <a:avLst/>
            <a:gdLst/>
            <a:ahLst/>
            <a:cxnLst/>
            <a:rect l="l" t="t" r="r" b="b"/>
            <a:pathLst>
              <a:path w="11387419" h="8115300">
                <a:moveTo>
                  <a:pt x="0" y="0"/>
                </a:moveTo>
                <a:lnTo>
                  <a:pt x="11387419" y="0"/>
                </a:lnTo>
                <a:lnTo>
                  <a:pt x="11387419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49" b="-544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9484" y="677340"/>
            <a:ext cx="10704247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Sustainable Development Goals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87200" y="-41120"/>
            <a:ext cx="6400800" cy="10287000"/>
          </a:xfrm>
          <a:custGeom>
            <a:avLst/>
            <a:gdLst/>
            <a:ahLst/>
            <a:cxnLst/>
            <a:rect l="l" t="t" r="r" b="b"/>
            <a:pathLst>
              <a:path w="6400800" h="10287000">
                <a:moveTo>
                  <a:pt x="0" y="0"/>
                </a:moveTo>
                <a:lnTo>
                  <a:pt x="6400800" y="0"/>
                </a:lnTo>
                <a:lnTo>
                  <a:pt x="64008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0" r="-362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740" y="-41120"/>
            <a:ext cx="9483279" cy="2547631"/>
            <a:chOff x="0" y="0"/>
            <a:chExt cx="12644372" cy="3396841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0380052" cy="150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399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Problem Statement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64320" y="1671545"/>
              <a:ext cx="10380052" cy="1725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3599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Addressing Practical Limitations in Diffusion-Based Channel Estimation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92505" y="2515710"/>
            <a:ext cx="7853149" cy="427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Inefficiency of Fixed Diffusion Steps 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Existing diffusion-based channel estimation methods use a fixed number of denoising steps for all channel conditions, regardless of signal quality or mobility.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This results in unnecessary computation and latency, especially in high-SNR or slowly varying channels where fewer refinement steps are sufficient.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92505" y="6225090"/>
            <a:ext cx="7853149" cy="33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Lack of Adaptability to Channel Conditions: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Wireless channels vary significantly with SNR, mobility, and pilot density, but current models fail to adapt their denoising depth accordingly.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Applying the same diffusion process to both easy and difficult channel conditions leads to sub-optimal resource utilization.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87200" y="-41120"/>
            <a:ext cx="6400800" cy="10287000"/>
          </a:xfrm>
          <a:custGeom>
            <a:avLst/>
            <a:gdLst/>
            <a:ahLst/>
            <a:cxnLst/>
            <a:rect l="l" t="t" r="r" b="b"/>
            <a:pathLst>
              <a:path w="6400800" h="10287000">
                <a:moveTo>
                  <a:pt x="0" y="0"/>
                </a:moveTo>
                <a:lnTo>
                  <a:pt x="6400800" y="0"/>
                </a:lnTo>
                <a:lnTo>
                  <a:pt x="64008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20" r="-362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9740" y="-41120"/>
            <a:ext cx="9483279" cy="2547631"/>
            <a:chOff x="0" y="0"/>
            <a:chExt cx="12644372" cy="3396841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0380052" cy="1508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9"/>
                </a:lnSpc>
              </a:pPr>
              <a:r>
                <a:rPr lang="en-US" sz="7399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Problem Statement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64320" y="1671545"/>
              <a:ext cx="10380052" cy="1725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3599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Addressing Practical Limitations in Diffusion-Based Channel Estimation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09870" y="2993021"/>
            <a:ext cx="7853149" cy="379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Gap Between Accuracy and Real-Time Feasibility: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While diffusion-based estimators achieve high accuracy, their fixed and computationally heavy inference process limits real-time deployment.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There is a need for adaptive solutions that balance estimation accuracy with latency and computational efficiency in practical systems.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78042" y="-140875"/>
            <a:ext cx="8910213" cy="10172557"/>
          </a:xfrm>
          <a:custGeom>
            <a:avLst/>
            <a:gdLst/>
            <a:ahLst/>
            <a:cxnLst/>
            <a:rect l="l" t="t" r="r" b="b"/>
            <a:pathLst>
              <a:path w="8910213" h="10172557">
                <a:moveTo>
                  <a:pt x="0" y="0"/>
                </a:moveTo>
                <a:lnTo>
                  <a:pt x="8910213" y="0"/>
                </a:lnTo>
                <a:lnTo>
                  <a:pt x="8910213" y="10172557"/>
                </a:lnTo>
                <a:lnTo>
                  <a:pt x="0" y="10172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96" b="-289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3100" y="667815"/>
            <a:ext cx="14772604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399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Block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502926"/>
            <a:ext cx="5979129" cy="204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6"/>
              </a:lnSpc>
              <a:spcBef>
                <a:spcPct val="0"/>
              </a:spcBef>
            </a:pPr>
            <a:r>
              <a:rPr lang="en-US" sz="584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OVERALL SYSTEM FLOW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3465" y="-1247061"/>
            <a:ext cx="16720034" cy="12246878"/>
          </a:xfrm>
          <a:custGeom>
            <a:avLst/>
            <a:gdLst/>
            <a:ahLst/>
            <a:cxnLst/>
            <a:rect l="l" t="t" r="r" b="b"/>
            <a:pathLst>
              <a:path w="16720034" h="12246878">
                <a:moveTo>
                  <a:pt x="0" y="0"/>
                </a:moveTo>
                <a:lnTo>
                  <a:pt x="16720034" y="0"/>
                </a:lnTo>
                <a:lnTo>
                  <a:pt x="16720034" y="12246878"/>
                </a:lnTo>
                <a:lnTo>
                  <a:pt x="0" y="122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07347" y="457200"/>
            <a:ext cx="4933138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399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21448" y="1408662"/>
            <a:ext cx="12187794" cy="8224355"/>
          </a:xfrm>
          <a:custGeom>
            <a:avLst/>
            <a:gdLst/>
            <a:ahLst/>
            <a:cxnLst/>
            <a:rect l="l" t="t" r="r" b="b"/>
            <a:pathLst>
              <a:path w="12187794" h="8224355">
                <a:moveTo>
                  <a:pt x="0" y="0"/>
                </a:moveTo>
                <a:lnTo>
                  <a:pt x="12187794" y="0"/>
                </a:lnTo>
                <a:lnTo>
                  <a:pt x="12187794" y="8224355"/>
                </a:lnTo>
                <a:lnTo>
                  <a:pt x="0" y="8224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8" b="-100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61502" y="457200"/>
            <a:ext cx="4933138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399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Methodology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7922" y="362420"/>
            <a:ext cx="9362816" cy="940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4"/>
              </a:lnSpc>
            </a:pPr>
            <a:r>
              <a:rPr lang="en-US" sz="5553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Input to the System</a:t>
            </a:r>
          </a:p>
          <a:p>
            <a:pPr algn="l">
              <a:lnSpc>
                <a:spcPts val="6664"/>
              </a:lnSpc>
            </a:pPr>
            <a:endParaRPr lang="en-US" sz="5553" b="1">
              <a:solidFill>
                <a:srgbClr val="7EC0DA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  <a:p>
            <a:pPr marL="839362" lvl="1" indent="-419681" algn="l">
              <a:lnSpc>
                <a:spcPts val="4665"/>
              </a:lnSpc>
              <a:buFont typeface="Arial"/>
              <a:buChar char="•"/>
            </a:pPr>
            <a:r>
              <a:rPr lang="en-US" sz="3887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Transmitted data symbols</a:t>
            </a:r>
          </a:p>
          <a:p>
            <a:pPr marL="1678724" lvl="2" indent="-559575" algn="l">
              <a:lnSpc>
                <a:spcPts val="4665"/>
              </a:lnSpc>
              <a:buFont typeface="Arial"/>
              <a:buChar char="⚬"/>
            </a:pPr>
            <a:r>
              <a:rPr lang="en-US" sz="388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Modulated using QPSK</a:t>
            </a:r>
          </a:p>
          <a:p>
            <a:pPr marL="1678724" lvl="2" indent="-559575" algn="l">
              <a:lnSpc>
                <a:spcPts val="4665"/>
              </a:lnSpc>
              <a:buFont typeface="Arial"/>
              <a:buChar char="⚬"/>
            </a:pPr>
            <a:r>
              <a:rPr lang="en-US" sz="388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Mapped onto OFDM subcarriers</a:t>
            </a:r>
          </a:p>
          <a:p>
            <a:pPr marL="839362" lvl="1" indent="-419681" algn="l">
              <a:lnSpc>
                <a:spcPts val="4665"/>
              </a:lnSpc>
              <a:buFont typeface="Arial"/>
              <a:buChar char="•"/>
            </a:pPr>
            <a:r>
              <a:rPr lang="en-US" sz="3887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Pilot symbols</a:t>
            </a:r>
          </a:p>
          <a:p>
            <a:pPr marL="1678724" lvl="2" indent="-559575" algn="l">
              <a:lnSpc>
                <a:spcPts val="4665"/>
              </a:lnSpc>
              <a:buFont typeface="Arial"/>
              <a:buChar char="⚬"/>
            </a:pPr>
            <a:r>
              <a:rPr lang="en-US" sz="388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Known symbols inserted at specific subcarriers</a:t>
            </a:r>
          </a:p>
          <a:p>
            <a:pPr marL="1678724" lvl="2" indent="-559575" algn="l">
              <a:lnSpc>
                <a:spcPts val="4665"/>
              </a:lnSpc>
              <a:buFont typeface="Arial"/>
              <a:buChar char="⚬"/>
            </a:pPr>
            <a:r>
              <a:rPr lang="en-US" sz="388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Used for initial (rough) channel estimation</a:t>
            </a:r>
          </a:p>
          <a:p>
            <a:pPr marL="839362" lvl="1" indent="-419681" algn="l">
              <a:lnSpc>
                <a:spcPts val="4665"/>
              </a:lnSpc>
              <a:buFont typeface="Arial"/>
              <a:buChar char="•"/>
            </a:pPr>
            <a:r>
              <a:rPr lang="en-US" sz="3887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MIMO-OFDM system parameters</a:t>
            </a:r>
          </a:p>
          <a:p>
            <a:pPr marL="1678724" lvl="2" indent="-559575" algn="l">
              <a:lnSpc>
                <a:spcPts val="4665"/>
              </a:lnSpc>
              <a:buFont typeface="Arial"/>
              <a:buChar char="⚬"/>
            </a:pPr>
            <a:r>
              <a:rPr lang="en-US" sz="388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Number of subcarriers</a:t>
            </a:r>
          </a:p>
          <a:p>
            <a:pPr marL="1678724" lvl="2" indent="-559575" algn="l">
              <a:lnSpc>
                <a:spcPts val="4665"/>
              </a:lnSpc>
              <a:buFont typeface="Arial"/>
              <a:buChar char="⚬"/>
            </a:pPr>
            <a:r>
              <a:rPr lang="en-US" sz="388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Number of transmit and receive antennas</a:t>
            </a:r>
          </a:p>
          <a:p>
            <a:pPr marL="1678724" lvl="2" indent="-559575" algn="l">
              <a:lnSpc>
                <a:spcPts val="4665"/>
              </a:lnSpc>
              <a:buFont typeface="Arial"/>
              <a:buChar char="⚬"/>
            </a:pPr>
            <a:r>
              <a:rPr lang="en-US" sz="388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OFDM symbol duration</a:t>
            </a:r>
          </a:p>
          <a:p>
            <a:pPr algn="l">
              <a:lnSpc>
                <a:spcPts val="3598"/>
              </a:lnSpc>
            </a:pPr>
            <a:endParaRPr lang="en-US" sz="3887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932"/>
              </a:lnSpc>
            </a:pPr>
            <a:endParaRPr lang="en-US" sz="3887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932"/>
              </a:lnSpc>
            </a:pPr>
            <a:endParaRPr lang="en-US" sz="3887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9522" y="206730"/>
            <a:ext cx="8429278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Input to the System</a:t>
            </a:r>
          </a:p>
          <a:p>
            <a:pPr algn="l">
              <a:lnSpc>
                <a:spcPts val="4200"/>
              </a:lnSpc>
            </a:pPr>
            <a:endParaRPr lang="en-US" sz="5000" b="1">
              <a:solidFill>
                <a:srgbClr val="7EC0DA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671638"/>
            <a:ext cx="8429278" cy="694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Wireless channel characteristics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Multipath fading channel (3GPP TDL models: TDLA, TDLB, TDLC)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Fast time-varying conditions (high mobility)</a:t>
            </a:r>
          </a:p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Noise and distortions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Additive White Gaussian Noise (AWGN)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Optional clipping noise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Cyclic Prefix (CP) present or removed</a:t>
            </a:r>
          </a:p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Conditional information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Rough channel estimate obtained from pilots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Used as auxiliary input to the CDDCE mode</a:t>
            </a: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l</a:t>
            </a:r>
          </a:p>
          <a:p>
            <a:pPr algn="l">
              <a:lnSpc>
                <a:spcPts val="3240"/>
              </a:lnSpc>
            </a:pPr>
            <a:endParaRPr lang="en-US" sz="3500" b="1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  <a:p>
            <a:pPr algn="l">
              <a:lnSpc>
                <a:spcPts val="2640"/>
              </a:lnSpc>
            </a:pPr>
            <a:endParaRPr lang="en-US" sz="3500" b="1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  <a:p>
            <a:pPr algn="l">
              <a:lnSpc>
                <a:spcPts val="2640"/>
              </a:lnSpc>
            </a:pPr>
            <a:endParaRPr lang="en-US" sz="3500" b="1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788160" y="2166936"/>
            <a:ext cx="8128960" cy="528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Adaptive Diffusion Control Input </a:t>
            </a:r>
          </a:p>
          <a:p>
            <a:pPr marL="728749" lvl="1" indent="-364374" algn="l">
              <a:lnSpc>
                <a:spcPts val="4050"/>
              </a:lnSpc>
              <a:buFont typeface="Arial"/>
              <a:buChar char="•"/>
            </a:pPr>
            <a:r>
              <a:rPr lang="en-US" sz="3375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Channel quality indicators fed into:</a:t>
            </a:r>
          </a:p>
          <a:p>
            <a:pPr marL="1457497" lvl="2" indent="-485832" algn="l">
              <a:lnSpc>
                <a:spcPts val="4050"/>
              </a:lnSpc>
              <a:buFont typeface="Arial"/>
              <a:buChar char="⚬"/>
            </a:pPr>
            <a:r>
              <a:rPr lang="en-US" sz="33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rule-based logic or</a:t>
            </a:r>
          </a:p>
          <a:p>
            <a:pPr marL="1457497" lvl="2" indent="-485832" algn="l">
              <a:lnSpc>
                <a:spcPts val="4050"/>
              </a:lnSpc>
              <a:buFont typeface="Arial"/>
              <a:buChar char="⚬"/>
            </a:pPr>
            <a:r>
              <a:rPr lang="en-US" sz="33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lightweight prediction module</a:t>
            </a:r>
          </a:p>
          <a:p>
            <a:pPr marL="728749" lvl="1" indent="-364374" algn="l">
              <a:lnSpc>
                <a:spcPts val="4050"/>
              </a:lnSpc>
              <a:buFont typeface="Arial"/>
              <a:buChar char="•"/>
            </a:pPr>
            <a:r>
              <a:rPr lang="en-US" sz="3375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Output determines:</a:t>
            </a:r>
          </a:p>
          <a:p>
            <a:pPr marL="1457497" lvl="2" indent="-485832" algn="l">
              <a:lnSpc>
                <a:spcPts val="4050"/>
              </a:lnSpc>
              <a:buFont typeface="Arial"/>
              <a:buChar char="⚬"/>
            </a:pPr>
            <a:r>
              <a:rPr lang="en-US" sz="33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Required number of diffusion denoising steps.</a:t>
            </a:r>
          </a:p>
          <a:p>
            <a:pPr marL="1457497" lvl="2" indent="-485832" algn="l">
              <a:lnSpc>
                <a:spcPts val="4050"/>
              </a:lnSpc>
              <a:buFont typeface="Arial"/>
              <a:buChar char="⚬"/>
            </a:pPr>
            <a:r>
              <a:rPr lang="en-US" sz="3375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Or an early-stopping signal during denoising</a:t>
            </a:r>
          </a:p>
          <a:p>
            <a:pPr algn="l">
              <a:lnSpc>
                <a:spcPts val="4050"/>
              </a:lnSpc>
            </a:pPr>
            <a:endParaRPr lang="en-US" sz="3375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546"/>
              </a:lnSpc>
            </a:pPr>
            <a:endParaRPr lang="en-US" sz="3375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546"/>
              </a:lnSpc>
            </a:pPr>
            <a:endParaRPr lang="en-US" sz="3375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0744" y="764287"/>
            <a:ext cx="8429278" cy="772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Expected Results</a:t>
            </a:r>
          </a:p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Accurate channel estimation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Refined Channel State Information (CSI)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Better estimation than LS, LS-DFT, and LMMSE methods</a:t>
            </a:r>
          </a:p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Improved NMSE performance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Lower NMSE across all SNR values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 early saturation at high SNR</a:t>
            </a:r>
          </a:p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Enhanced BER performance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Reduced bit error rate during signal detection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Stable performance even at high mobility</a:t>
            </a:r>
          </a:p>
          <a:p>
            <a:pPr algn="l">
              <a:lnSpc>
                <a:spcPts val="420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324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64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64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830022" y="608127"/>
            <a:ext cx="8429278" cy="932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endParaRPr/>
          </a:p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High robustness under adverse conditions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Maintains good performance when: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Cyclic Prefix (CP) is removed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Clipping noise is present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Pilot symbols are limited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Training and testing channels are mismatched</a:t>
            </a:r>
          </a:p>
          <a:p>
            <a:pPr marL="755672" lvl="1" indent="-377836" algn="l">
              <a:lnSpc>
                <a:spcPts val="420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Better generalization capability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Works reliably across different channel models</a:t>
            </a:r>
          </a:p>
          <a:p>
            <a:pPr marL="1511343" lvl="2" indent="-503781" algn="l">
              <a:lnSpc>
                <a:spcPts val="4200"/>
              </a:lnSpc>
              <a:buFont typeface="Arial"/>
              <a:buChar char="⚬"/>
            </a:pPr>
            <a:r>
              <a:rPr lang="en-US" sz="35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Effective in fast-fading MIMO-OFDM environments</a:t>
            </a:r>
          </a:p>
          <a:p>
            <a:pPr algn="l">
              <a:lnSpc>
                <a:spcPts val="420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420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324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64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640"/>
              </a:lnSpc>
            </a:pPr>
            <a:endParaRPr lang="en-US" sz="35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0263" y="864603"/>
            <a:ext cx="5959003" cy="225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Software Requirements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953886" y="2546874"/>
            <a:ext cx="565379" cy="565379"/>
            <a:chOff x="0" y="0"/>
            <a:chExt cx="753839" cy="753839"/>
          </a:xfrm>
        </p:grpSpPr>
        <p:sp>
          <p:nvSpPr>
            <p:cNvPr id="4" name="TextBox 4"/>
            <p:cNvSpPr txBox="1"/>
            <p:nvPr/>
          </p:nvSpPr>
          <p:spPr>
            <a:xfrm>
              <a:off x="114740" y="118686"/>
              <a:ext cx="524359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1</a:t>
              </a:r>
            </a:p>
          </p:txBody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53839" cy="753839"/>
              <a:chOff x="0" y="0"/>
              <a:chExt cx="6355080" cy="635508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7EC0DA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6953886" y="4207878"/>
            <a:ext cx="565379" cy="565379"/>
            <a:chOff x="0" y="0"/>
            <a:chExt cx="753839" cy="753839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0" y="0"/>
              <a:ext cx="753839" cy="753839"/>
              <a:chOff x="0" y="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7EC0DA"/>
              </a:solid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14740" y="118686"/>
              <a:ext cx="524359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53886" y="5790298"/>
            <a:ext cx="565379" cy="565379"/>
            <a:chOff x="0" y="0"/>
            <a:chExt cx="753839" cy="753839"/>
          </a:xfrm>
        </p:grpSpPr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0" y="0"/>
              <a:ext cx="753839" cy="753839"/>
              <a:chOff x="0" y="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7EC0DA"/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4740" y="118686"/>
              <a:ext cx="524359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53886" y="7445031"/>
            <a:ext cx="565379" cy="565379"/>
            <a:chOff x="0" y="0"/>
            <a:chExt cx="753839" cy="753839"/>
          </a:xfrm>
        </p:grpSpPr>
        <p:grpSp>
          <p:nvGrpSpPr>
            <p:cNvPr id="16" name="Group 16"/>
            <p:cNvGrpSpPr>
              <a:grpSpLocks noChangeAspect="1"/>
            </p:cNvGrpSpPr>
            <p:nvPr/>
          </p:nvGrpSpPr>
          <p:grpSpPr>
            <a:xfrm>
              <a:off x="0" y="0"/>
              <a:ext cx="753839" cy="753839"/>
              <a:chOff x="0" y="0"/>
              <a:chExt cx="6355080" cy="635508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7EC0DA"/>
              </a:solidFill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4740" y="118686"/>
              <a:ext cx="524359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4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16796" y="1911219"/>
            <a:ext cx="811530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MATLAB 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Used for complete system modeling, including MIMO-OFDM modulation, pilot insertion, fast time-varying channel simulation, LS channel estimation, DFT-based preprocessing, CDDCE implementation, and performance evaluation.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16796" y="3885095"/>
            <a:ext cx="8115300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MATLAB Communication Toolbox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-US" sz="22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Provides built-in functions for OFDM modulation/demodulation, MIMO processing, channel modeling, and BER computation.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16796" y="5467515"/>
            <a:ext cx="8115300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MATLAB Signal Processing Toolbox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-US" sz="22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Used for DFT/IDFT operations, time-domain truncation, filtering, and signal denoising operations.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16796" y="7122248"/>
            <a:ext cx="8115300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Deep Learning Toolbox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Required if the CDDCE model is implemented or trained using diffusion-based or learning-assisted denoising techniques.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86789" y="631640"/>
            <a:ext cx="11264586" cy="9655360"/>
          </a:xfrm>
          <a:custGeom>
            <a:avLst/>
            <a:gdLst/>
            <a:ahLst/>
            <a:cxnLst/>
            <a:rect l="l" t="t" r="r" b="b"/>
            <a:pathLst>
              <a:path w="11264586" h="9655360">
                <a:moveTo>
                  <a:pt x="0" y="0"/>
                </a:moveTo>
                <a:lnTo>
                  <a:pt x="11264586" y="0"/>
                </a:lnTo>
                <a:lnTo>
                  <a:pt x="11264586" y="9655360"/>
                </a:lnTo>
                <a:lnTo>
                  <a:pt x="0" y="9655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631640"/>
            <a:ext cx="10343649" cy="1500335"/>
            <a:chOff x="0" y="0"/>
            <a:chExt cx="13791532" cy="2000446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3791532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99"/>
                </a:lnSpc>
              </a:pPr>
              <a:r>
                <a:rPr lang="en-US" sz="5999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Future Scope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551253"/>
              <a:ext cx="11810183" cy="449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97180"/>
            <a:ext cx="12540621" cy="1649341"/>
            <a:chOff x="0" y="0"/>
            <a:chExt cx="16720828" cy="2199122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6720828" cy="1261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18"/>
                </a:lnSpc>
              </a:pPr>
              <a:r>
                <a:rPr lang="en-US" sz="6182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Conclusions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647609"/>
              <a:ext cx="14318643" cy="551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9636" y="3352854"/>
            <a:ext cx="17248728" cy="429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3298" lvl="1" indent="-441649" algn="ctr">
              <a:lnSpc>
                <a:spcPts val="5727"/>
              </a:lnSpc>
              <a:spcBef>
                <a:spcPct val="0"/>
              </a:spcBef>
              <a:buFont typeface="Arial"/>
              <a:buChar char="•"/>
            </a:pPr>
            <a:r>
              <a:rPr lang="en-US" sz="4091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Diffusion-based channel estimation offers high accuracy but suffers from high latency</a:t>
            </a:r>
          </a:p>
          <a:p>
            <a:pPr marL="883298" lvl="1" indent="-441649" algn="ctr">
              <a:lnSpc>
                <a:spcPts val="5727"/>
              </a:lnSpc>
              <a:spcBef>
                <a:spcPct val="0"/>
              </a:spcBef>
              <a:buFont typeface="Arial"/>
              <a:buChar char="•"/>
            </a:pPr>
            <a:r>
              <a:rPr lang="en-US" sz="4091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Fixed diffusion steps are inefficient for real-time wireless systems</a:t>
            </a:r>
          </a:p>
          <a:p>
            <a:pPr marL="883298" lvl="1" indent="-441649" algn="ctr">
              <a:lnSpc>
                <a:spcPts val="5727"/>
              </a:lnSpc>
              <a:spcBef>
                <a:spcPct val="0"/>
              </a:spcBef>
              <a:buFont typeface="Arial"/>
              <a:buChar char="•"/>
            </a:pPr>
            <a:r>
              <a:rPr lang="en-US" sz="4091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Proposed AI-assisted adaptive diffusion framework dynamically controls inference steps</a:t>
            </a:r>
          </a:p>
          <a:p>
            <a:pPr marL="883298" lvl="1" indent="-441649" algn="ctr">
              <a:lnSpc>
                <a:spcPts val="5727"/>
              </a:lnSpc>
              <a:spcBef>
                <a:spcPct val="0"/>
              </a:spcBef>
              <a:buFont typeface="Arial"/>
              <a:buChar char="•"/>
            </a:pPr>
            <a:r>
              <a:rPr lang="en-US" sz="4091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Achieves a balance between accuracy, latency, and energy efficiency</a:t>
            </a:r>
          </a:p>
          <a:p>
            <a:pPr marL="883298" lvl="1" indent="-441649" algn="ctr">
              <a:lnSpc>
                <a:spcPts val="5727"/>
              </a:lnSpc>
              <a:spcBef>
                <a:spcPct val="0"/>
              </a:spcBef>
              <a:buFont typeface="Arial"/>
              <a:buChar char="•"/>
            </a:pPr>
            <a:r>
              <a:rPr lang="en-US" sz="4091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Supports sustainable, low-latency communication for future 5G and 6G networks</a:t>
            </a:r>
          </a:p>
          <a:p>
            <a:pPr algn="ctr">
              <a:lnSpc>
                <a:spcPts val="5727"/>
              </a:lnSpc>
              <a:spcBef>
                <a:spcPct val="0"/>
              </a:spcBef>
            </a:pPr>
            <a:endParaRPr lang="en-US" sz="4091" b="1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1873" y="3039096"/>
            <a:ext cx="16944254" cy="2449554"/>
          </a:xfrm>
          <a:custGeom>
            <a:avLst/>
            <a:gdLst/>
            <a:ahLst/>
            <a:cxnLst/>
            <a:rect l="l" t="t" r="r" b="b"/>
            <a:pathLst>
              <a:path w="16944254" h="2449554">
                <a:moveTo>
                  <a:pt x="0" y="0"/>
                </a:moveTo>
                <a:lnTo>
                  <a:pt x="16944254" y="0"/>
                </a:lnTo>
                <a:lnTo>
                  <a:pt x="16944254" y="2449554"/>
                </a:lnTo>
                <a:lnTo>
                  <a:pt x="0" y="2449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9" r="-1109" b="-2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1873" y="5488650"/>
            <a:ext cx="16944254" cy="3367670"/>
          </a:xfrm>
          <a:custGeom>
            <a:avLst/>
            <a:gdLst/>
            <a:ahLst/>
            <a:cxnLst/>
            <a:rect l="l" t="t" r="r" b="b"/>
            <a:pathLst>
              <a:path w="16944254" h="3367670">
                <a:moveTo>
                  <a:pt x="0" y="0"/>
                </a:moveTo>
                <a:lnTo>
                  <a:pt x="16944254" y="0"/>
                </a:lnTo>
                <a:lnTo>
                  <a:pt x="16944254" y="3367670"/>
                </a:lnTo>
                <a:lnTo>
                  <a:pt x="0" y="3367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32904" y="634365"/>
            <a:ext cx="496527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Literature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4971" y="2495614"/>
            <a:ext cx="16946469" cy="5295772"/>
          </a:xfrm>
          <a:custGeom>
            <a:avLst/>
            <a:gdLst/>
            <a:ahLst/>
            <a:cxnLst/>
            <a:rect l="l" t="t" r="r" b="b"/>
            <a:pathLst>
              <a:path w="16946469" h="5295772">
                <a:moveTo>
                  <a:pt x="0" y="0"/>
                </a:moveTo>
                <a:lnTo>
                  <a:pt x="16946469" y="0"/>
                </a:lnTo>
                <a:lnTo>
                  <a:pt x="16946469" y="5295772"/>
                </a:lnTo>
                <a:lnTo>
                  <a:pt x="0" y="5295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4971" y="7837992"/>
            <a:ext cx="16946469" cy="1156040"/>
          </a:xfrm>
          <a:custGeom>
            <a:avLst/>
            <a:gdLst/>
            <a:ahLst/>
            <a:cxnLst/>
            <a:rect l="l" t="t" r="r" b="b"/>
            <a:pathLst>
              <a:path w="16946469" h="1156040">
                <a:moveTo>
                  <a:pt x="0" y="0"/>
                </a:moveTo>
                <a:lnTo>
                  <a:pt x="16946469" y="0"/>
                </a:lnTo>
                <a:lnTo>
                  <a:pt x="16946469" y="1156040"/>
                </a:lnTo>
                <a:lnTo>
                  <a:pt x="0" y="1156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0" b="-39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94971" y="1980289"/>
            <a:ext cx="16946469" cy="515326"/>
          </a:xfrm>
          <a:custGeom>
            <a:avLst/>
            <a:gdLst/>
            <a:ahLst/>
            <a:cxnLst/>
            <a:rect l="l" t="t" r="r" b="b"/>
            <a:pathLst>
              <a:path w="16946469" h="515326">
                <a:moveTo>
                  <a:pt x="0" y="0"/>
                </a:moveTo>
                <a:lnTo>
                  <a:pt x="16946469" y="0"/>
                </a:lnTo>
                <a:lnTo>
                  <a:pt x="16946469" y="515325"/>
                </a:lnTo>
                <a:lnTo>
                  <a:pt x="0" y="51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438" b="-343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32904" y="634365"/>
            <a:ext cx="496527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Literature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9739289" cy="1280910"/>
            <a:chOff x="0" y="0"/>
            <a:chExt cx="12985719" cy="170788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2985719" cy="972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61"/>
                </a:lnSpc>
              </a:pPr>
              <a:r>
                <a:rPr lang="en-US" sz="4801" b="1">
                  <a:solidFill>
                    <a:srgbClr val="7EC0DA"/>
                  </a:solidFill>
                  <a:latin typeface="Barlow Condensed Semi-Bold"/>
                  <a:ea typeface="Barlow Condensed Semi-Bold"/>
                  <a:cs typeface="Barlow Condensed Semi-Bold"/>
                  <a:sym typeface="Barlow Condensed Semi-Bold"/>
                </a:rPr>
                <a:t>References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81593"/>
              <a:ext cx="11120136" cy="426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1360" y="2252460"/>
            <a:ext cx="17936640" cy="502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[1] H. Harkat, P. Monteiro, A. Gameiro, F. Guiomar, H. Farhana Thariq Ahmed, A survey on MIMO-OFDM systems: review of recent trends, Signals 3 (2) (2022) 359–395.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[2] H. Fu, W. Si, I.M. Kim, Deep learning-based joint pilot design and channel estimation for OFDM systems, IEEE Trans. Commun. 71 (8) (2023) 4577–4590.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[3]M. Arvinte, J.I. Tamir, MIMO channel estimation using score-based generative models, IEEE Trans. Wirel. Commun. 22 (6) (2022) 3698–3713..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[4]A. Le Ha, T. Van Chien, T.H. Nguyen, W. Choi, Deep learning-aided 5G channel estimation, in: Proc. 15th Int. Conf. Ubiquitous Inf. Manage. Commun. (IMCOM), 2021, pp. 1–7.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[5]W. Kim, Y. Ahn, J. Kim, B. Shim, Towards deep learning-aided wireless channel estimation and channel state information feedback for 6G, IEEE J. Commun. Netw. 25 (1) (2023) 61–75.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[6] Y. Song, S. Ermon, Generative modeling by estimating gradients of the data distri bution, in: Proc. Adv. Neural Inf. Process. Syst. (NeurIPS), vol. 32, 2019.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 b="1">
              <a:solidFill>
                <a:srgbClr val="FFFFFF"/>
              </a:solidFill>
              <a:latin typeface="Barlow Condensed Semi-Bold"/>
              <a:ea typeface="Barlow Condensed Semi-Bold"/>
              <a:cs typeface="Barlow Condensed Semi-Bold"/>
              <a:sym typeface="Barlow Condensed Semi-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6356" y="362420"/>
            <a:ext cx="15741606" cy="834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endParaRPr/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Implementation Progress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FFFFFF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                  T</a:t>
            </a: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he proposed framework was implemented using Python and PyTorch.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following modules were developed: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MIMO-OFDM signal generation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3GPP TDL-C channel modeling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LS based initial channel estimation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Diffusion based channel denoising model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Adaptive diffusion control mechanism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Performance evaluation using NMSE and BER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complete system is implemented as an end-to-end simulation framework.</a:t>
            </a:r>
          </a:p>
          <a:p>
            <a:pPr algn="l">
              <a:lnSpc>
                <a:spcPts val="3585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3598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6356" y="362420"/>
            <a:ext cx="15741606" cy="646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A-CDDCE System Architecture</a:t>
            </a:r>
          </a:p>
          <a:p>
            <a:pPr algn="l">
              <a:lnSpc>
                <a:spcPts val="4864"/>
              </a:lnSpc>
            </a:pPr>
            <a:endParaRPr lang="en-US" sz="4053" b="1">
              <a:solidFill>
                <a:srgbClr val="7EC0DA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MIMO-OFDM transmitter generates QPSK symbols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Signals pass through 3GPP TDL-C fading channel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Pilot symbols enable LS channel estimation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LS estimate is used as conditional input to diffusion model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Diffusion model performs iterative denoising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Adaptive mechanism selects number of diffusion steps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Final refined channel estimate is obtained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Output: Accurate Channel State Information (CSI)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2844" y="362420"/>
            <a:ext cx="15115117" cy="949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Wireless Channel Model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                  The system uses 3GPP TDL-C multipath channel model.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characteristics: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Multipath fading with delay spread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High mobility scenario (120 km/h)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Frequency selective fading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Time varying channel conditions</a:t>
            </a:r>
          </a:p>
          <a:p>
            <a:pPr algn="l">
              <a:lnSpc>
                <a:spcPts val="4864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System parameters: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Subcarriers = 64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MIMO configuration = 2 × 2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OFDM frames = 32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Channel taps used = 28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This provides realistic 5G channel simulation conditions.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2844" y="362420"/>
            <a:ext cx="15115117" cy="707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Conditional Diffusion Channel Estimation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diffusion model learns to remove noise from rough channel estimates.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Process: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True channel representation is gradually corrupted with noise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Neural network learns to predict the noise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Reverse diffusion process removes noise step-by-step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Final output produces refined channel estimate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Advantages: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</a:t>
            </a: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Handles nonlinear channel distortions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Robust to noise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Works with limited pilot symbols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2844" y="362420"/>
            <a:ext cx="15115117" cy="890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Adaptive Diffusion Step Selection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Traditional diffusion models use fixed denoising steps.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Problem: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High latency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Unnecessary computation at high SNR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Our solution: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Adaptive diffusion depth based on Channel Quality Indicator (CQI)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Mechanism: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CQI extracted from LS channel estimate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Rule-based controller selects diffusion steps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High SNR → fewer steps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Low SNR → more steps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Result: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Reduced latency while maintaining accuracy.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2844" y="362420"/>
            <a:ext cx="15115117" cy="707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Improved U-Net Architecture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denoising network is based on U-Net with enhancements.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Conditional SNR embedding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Residual convolution blocks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Dual-Axis Attention module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Skip connections for feature preservation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Benefits: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• Better spatial-temporal feature extraction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• Improved channel reconstruction accuracy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• Faster convergence during training</a:t>
            </a:r>
          </a:p>
          <a:p>
            <a:pPr algn="l">
              <a:lnSpc>
                <a:spcPts val="2932"/>
              </a:lnSpc>
            </a:pPr>
            <a:endParaRPr lang="en-US" sz="4053" b="1">
              <a:solidFill>
                <a:srgbClr val="7EC0DA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5031" y="1368598"/>
            <a:ext cx="15115117" cy="707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Improved U-Net Architecture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denoising network is based on U-Net with enhancements.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features: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Conditional SNR embedding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Residual convolution blocks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Dual-Axis Attention module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Skip connections for feature preservation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Benefits: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Better spatial-temporal feature extraction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Improved channel reconstruction accuracy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Faster convergence during training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6441" y="1748288"/>
            <a:ext cx="15115117" cy="646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Dual-Axis Attention Mechanism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Two attention modules are applied: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Frequency-axis attention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Learns correlation across subcarriers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Time-axis attention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Learns correlation across OFDM frames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Advantages: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Captures channel variation in both dimensions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Improves estimation for fast-fading channels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Enhances model robustness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6441" y="1909762"/>
            <a:ext cx="15115117" cy="646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Monte-Carlo Dropout Inference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To improve reliability, multiple stochastic forward passes are performed.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Steps: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Enable dropout during inference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Run diffusion model multiple times</a:t>
            </a:r>
          </a:p>
          <a:p>
            <a:pPr marL="875227" lvl="1" indent="-437614" algn="l">
              <a:lnSpc>
                <a:spcPts val="4864"/>
              </a:lnSpc>
              <a:buAutoNum type="arabicPeriod"/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Average predictions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Benefits: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Reduces estimation variance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Improves stability of CSI prediction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Provides more reliable channel estimation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5176" y="1360990"/>
            <a:ext cx="16734306" cy="789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Evaluation Metrics</a:t>
            </a:r>
          </a:p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Two key metrics are used:</a:t>
            </a:r>
          </a:p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1. NMSE (Normalized Mean Square Error)</a:t>
            </a:r>
          </a:p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Measures channel estimation accuracy</a:t>
            </a:r>
          </a:p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Lower NMSE → better estimation.</a:t>
            </a:r>
          </a:p>
          <a:p>
            <a:pPr algn="l">
              <a:lnSpc>
                <a:spcPts val="5385"/>
              </a:lnSpc>
            </a:pPr>
            <a:endParaRPr lang="en-US" sz="4488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 algn="l">
              <a:lnSpc>
                <a:spcPts val="5385"/>
              </a:lnSpc>
            </a:pPr>
            <a:endParaRPr lang="en-US" sz="4488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 algn="l">
              <a:lnSpc>
                <a:spcPts val="5385"/>
              </a:lnSpc>
            </a:pPr>
            <a:endParaRPr lang="en-US" sz="4488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2. BER (Bit Error Rate)</a:t>
            </a:r>
          </a:p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Measures symbol detection performance.</a:t>
            </a:r>
          </a:p>
          <a:p>
            <a:pPr algn="l">
              <a:lnSpc>
                <a:spcPts val="5385"/>
              </a:lnSpc>
            </a:pPr>
            <a:r>
              <a:rPr lang="en-US" sz="4488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Lower BER indicates more reliable communication.</a:t>
            </a:r>
          </a:p>
          <a:p>
            <a:pPr algn="l">
              <a:lnSpc>
                <a:spcPts val="3246"/>
              </a:lnSpc>
            </a:pPr>
            <a:endParaRPr lang="en-US" sz="4488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7038217" y="4793101"/>
            <a:ext cx="8393306" cy="2410747"/>
          </a:xfrm>
          <a:custGeom>
            <a:avLst/>
            <a:gdLst/>
            <a:ahLst/>
            <a:cxnLst/>
            <a:rect l="l" t="t" r="r" b="b"/>
            <a:pathLst>
              <a:path w="8393306" h="2410747">
                <a:moveTo>
                  <a:pt x="0" y="0"/>
                </a:moveTo>
                <a:lnTo>
                  <a:pt x="8393306" y="0"/>
                </a:lnTo>
                <a:lnTo>
                  <a:pt x="8393306" y="2410747"/>
                </a:lnTo>
                <a:lnTo>
                  <a:pt x="0" y="2410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59" r="-3559"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7062" y="819871"/>
            <a:ext cx="15115117" cy="463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Channel Estimation Methods Compared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following estimators are evaluated: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LS (Least Squares) – baseline method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CDDCE – fixed diffusion channel estimator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A-CDDCE – proposed adaptive diffusion estimator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Objective: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Show that A-CDDCE improves NMSE and BER performance.</a:t>
            </a:r>
          </a:p>
          <a:p>
            <a:pPr algn="l">
              <a:lnSpc>
                <a:spcPts val="2932"/>
              </a:lnSpc>
            </a:pPr>
            <a:endParaRPr lang="en-US" sz="4053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5317373"/>
            <a:ext cx="15115117" cy="463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Expected outcomes: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7EC0D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</a:t>
            </a: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Lower NMSE across all SNR values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Improved BER performance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Reduced inference latency</a:t>
            </a:r>
          </a:p>
          <a:p>
            <a:pPr algn="l">
              <a:lnSpc>
                <a:spcPts val="4864"/>
              </a:lnSpc>
            </a:pPr>
            <a:r>
              <a:rPr lang="en-US" sz="405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• Better adaptation to varying channel conditions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adaptive mechanism ensures: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Higher efficiency for practical 5G/6G systems.</a:t>
            </a:r>
          </a:p>
          <a:p>
            <a:pPr algn="l">
              <a:lnSpc>
                <a:spcPts val="2932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691335"/>
            <a:ext cx="15115117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proposed A-CDDCE framework introduces adaptive control in diffusion-based channel estimation.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Key contributions: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• </a:t>
            </a: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Adaptive diffusion step selection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• Dual-Axis attention architecture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• Monte-Carlo dropout inference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approach improves accuracy, robustness, and computational efficiency for next-generation wireless systems.</a:t>
            </a:r>
          </a:p>
          <a:p>
            <a:pPr algn="l">
              <a:lnSpc>
                <a:spcPts val="2932"/>
              </a:lnSpc>
            </a:pPr>
            <a:endParaRPr lang="en-US" sz="4053" b="1">
              <a:solidFill>
                <a:srgbClr val="7EC0DA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11782" y="3009900"/>
            <a:ext cx="12664437" cy="6012789"/>
          </a:xfrm>
          <a:custGeom>
            <a:avLst/>
            <a:gdLst/>
            <a:ahLst/>
            <a:cxnLst/>
            <a:rect l="l" t="t" r="r" b="b"/>
            <a:pathLst>
              <a:path w="12664437" h="6012789">
                <a:moveTo>
                  <a:pt x="0" y="0"/>
                </a:moveTo>
                <a:lnTo>
                  <a:pt x="12664436" y="0"/>
                </a:lnTo>
                <a:lnTo>
                  <a:pt x="12664436" y="6012789"/>
                </a:lnTo>
                <a:lnTo>
                  <a:pt x="0" y="6012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86441" y="1909762"/>
            <a:ext cx="15115117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RESULTS -TRAINING LOSS F0R A-CDDCE METHOD 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</a:p>
          <a:p>
            <a:pPr algn="l">
              <a:lnSpc>
                <a:spcPts val="4864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 algn="l">
              <a:lnSpc>
                <a:spcPts val="2932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10907" y="2837942"/>
            <a:ext cx="12685235" cy="4611116"/>
          </a:xfrm>
          <a:custGeom>
            <a:avLst/>
            <a:gdLst/>
            <a:ahLst/>
            <a:cxnLst/>
            <a:rect l="l" t="t" r="r" b="b"/>
            <a:pathLst>
              <a:path w="12685235" h="4611116">
                <a:moveTo>
                  <a:pt x="0" y="0"/>
                </a:moveTo>
                <a:lnTo>
                  <a:pt x="12685236" y="0"/>
                </a:lnTo>
                <a:lnTo>
                  <a:pt x="12685236" y="4611116"/>
                </a:lnTo>
                <a:lnTo>
                  <a:pt x="0" y="4611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95966" y="1909762"/>
            <a:ext cx="15115117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RESULTS-NMSE AND BER PLOTS FOR LS,CDDCE AND A-CDDCE METHODS  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</a:p>
          <a:p>
            <a:pPr algn="l">
              <a:lnSpc>
                <a:spcPts val="4864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 algn="l">
              <a:lnSpc>
                <a:spcPts val="2932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8920" y="339473"/>
            <a:ext cx="15115117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INFERENCE </a:t>
            </a:r>
          </a:p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</a:p>
          <a:p>
            <a:pPr algn="l">
              <a:lnSpc>
                <a:spcPts val="4864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 algn="l">
              <a:lnSpc>
                <a:spcPts val="2932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1028700"/>
            <a:ext cx="9393578" cy="3470279"/>
          </a:xfrm>
          <a:custGeom>
            <a:avLst/>
            <a:gdLst/>
            <a:ahLst/>
            <a:cxnLst/>
            <a:rect l="l" t="t" r="r" b="b"/>
            <a:pathLst>
              <a:path w="9393578" h="3470279">
                <a:moveTo>
                  <a:pt x="0" y="0"/>
                </a:moveTo>
                <a:lnTo>
                  <a:pt x="9393578" y="0"/>
                </a:lnTo>
                <a:lnTo>
                  <a:pt x="9393578" y="3470279"/>
                </a:lnTo>
                <a:lnTo>
                  <a:pt x="0" y="3470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29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5350735"/>
            <a:ext cx="9682022" cy="168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734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CDDCE significantly suppresses noise but residual modeling limitations cause mild saturation at high SNR.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734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CDDCE provides 3–5× NMSE reduction compared to LS.</a:t>
            </a:r>
          </a:p>
        </p:txBody>
      </p:sp>
      <p:sp>
        <p:nvSpPr>
          <p:cNvPr id="5" name="Freeform 5"/>
          <p:cNvSpPr/>
          <p:nvPr/>
        </p:nvSpPr>
        <p:spPr>
          <a:xfrm>
            <a:off x="9393578" y="1028700"/>
            <a:ext cx="8894422" cy="3470279"/>
          </a:xfrm>
          <a:custGeom>
            <a:avLst/>
            <a:gdLst/>
            <a:ahLst/>
            <a:cxnLst/>
            <a:rect l="l" t="t" r="r" b="b"/>
            <a:pathLst>
              <a:path w="8894422" h="3470279">
                <a:moveTo>
                  <a:pt x="0" y="0"/>
                </a:moveTo>
                <a:lnTo>
                  <a:pt x="8894422" y="0"/>
                </a:lnTo>
                <a:lnTo>
                  <a:pt x="8894422" y="3470279"/>
                </a:lnTo>
                <a:lnTo>
                  <a:pt x="0" y="3470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8" r="-495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82022" y="4498979"/>
            <a:ext cx="8605978" cy="426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BER improvement confirms that NMSE gains are not only mathematical improvements but also practically beneficial for reliable communication.</a:t>
            </a:r>
          </a:p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Also,Even at high SNR:</a:t>
            </a:r>
          </a:p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LS ≈ 0.11 and CDDCE ≈ 0.06</a:t>
            </a:r>
          </a:p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That’s almost 2× improvement in BER.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74751" y="2342679"/>
            <a:ext cx="13120784" cy="6156380"/>
          </a:xfrm>
          <a:custGeom>
            <a:avLst/>
            <a:gdLst/>
            <a:ahLst/>
            <a:cxnLst/>
            <a:rect l="l" t="t" r="r" b="b"/>
            <a:pathLst>
              <a:path w="13120784" h="6156380">
                <a:moveTo>
                  <a:pt x="0" y="0"/>
                </a:moveTo>
                <a:lnTo>
                  <a:pt x="13120783" y="0"/>
                </a:lnTo>
                <a:lnTo>
                  <a:pt x="13120783" y="6156380"/>
                </a:lnTo>
                <a:lnTo>
                  <a:pt x="0" y="6156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1087" y="1533290"/>
            <a:ext cx="9553079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90858" y="2851599"/>
            <a:ext cx="11301259" cy="5481111"/>
          </a:xfrm>
          <a:custGeom>
            <a:avLst/>
            <a:gdLst/>
            <a:ahLst/>
            <a:cxnLst/>
            <a:rect l="l" t="t" r="r" b="b"/>
            <a:pathLst>
              <a:path w="11301259" h="5481111">
                <a:moveTo>
                  <a:pt x="0" y="0"/>
                </a:moveTo>
                <a:lnTo>
                  <a:pt x="11301259" y="0"/>
                </a:lnTo>
                <a:lnTo>
                  <a:pt x="11301259" y="5481110"/>
                </a:lnTo>
                <a:lnTo>
                  <a:pt x="0" y="548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90858" y="1533290"/>
            <a:ext cx="1099353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Carriers-Bagadi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83136" y="2342915"/>
            <a:ext cx="11301259" cy="3079593"/>
          </a:xfrm>
          <a:custGeom>
            <a:avLst/>
            <a:gdLst/>
            <a:ahLst/>
            <a:cxnLst/>
            <a:rect l="l" t="t" r="r" b="b"/>
            <a:pathLst>
              <a:path w="11301259" h="3079593">
                <a:moveTo>
                  <a:pt x="0" y="0"/>
                </a:moveTo>
                <a:lnTo>
                  <a:pt x="11301259" y="0"/>
                </a:lnTo>
                <a:lnTo>
                  <a:pt x="11301259" y="3079593"/>
                </a:lnTo>
                <a:lnTo>
                  <a:pt x="0" y="3079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83136" y="5622533"/>
            <a:ext cx="11301259" cy="4379238"/>
          </a:xfrm>
          <a:custGeom>
            <a:avLst/>
            <a:gdLst/>
            <a:ahLst/>
            <a:cxnLst/>
            <a:rect l="l" t="t" r="r" b="b"/>
            <a:pathLst>
              <a:path w="11301259" h="4379238">
                <a:moveTo>
                  <a:pt x="0" y="0"/>
                </a:moveTo>
                <a:lnTo>
                  <a:pt x="11301259" y="0"/>
                </a:lnTo>
                <a:lnTo>
                  <a:pt x="11301259" y="4379238"/>
                </a:lnTo>
                <a:lnTo>
                  <a:pt x="0" y="437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90858" y="1533290"/>
            <a:ext cx="1099353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Carriers-Bagadi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6159" y="2875087"/>
            <a:ext cx="8782935" cy="5818694"/>
          </a:xfrm>
          <a:custGeom>
            <a:avLst/>
            <a:gdLst/>
            <a:ahLst/>
            <a:cxnLst/>
            <a:rect l="l" t="t" r="r" b="b"/>
            <a:pathLst>
              <a:path w="8782935" h="5818694">
                <a:moveTo>
                  <a:pt x="0" y="0"/>
                </a:moveTo>
                <a:lnTo>
                  <a:pt x="8782935" y="0"/>
                </a:lnTo>
                <a:lnTo>
                  <a:pt x="8782935" y="5818695"/>
                </a:lnTo>
                <a:lnTo>
                  <a:pt x="0" y="5818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90858" y="1533290"/>
            <a:ext cx="1099353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Carriers-Bagadi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94487" y="2779794"/>
            <a:ext cx="9186279" cy="5752907"/>
          </a:xfrm>
          <a:custGeom>
            <a:avLst/>
            <a:gdLst/>
            <a:ahLst/>
            <a:cxnLst/>
            <a:rect l="l" t="t" r="r" b="b"/>
            <a:pathLst>
              <a:path w="9186279" h="5752907">
                <a:moveTo>
                  <a:pt x="0" y="0"/>
                </a:moveTo>
                <a:lnTo>
                  <a:pt x="9186279" y="0"/>
                </a:lnTo>
                <a:lnTo>
                  <a:pt x="9186279" y="5752907"/>
                </a:lnTo>
                <a:lnTo>
                  <a:pt x="0" y="5752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90858" y="1533290"/>
            <a:ext cx="1099353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Carriers-Bagadi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30856" y="2342915"/>
            <a:ext cx="8039500" cy="7154049"/>
          </a:xfrm>
          <a:custGeom>
            <a:avLst/>
            <a:gdLst/>
            <a:ahLst/>
            <a:cxnLst/>
            <a:rect l="l" t="t" r="r" b="b"/>
            <a:pathLst>
              <a:path w="8039500" h="7154049">
                <a:moveTo>
                  <a:pt x="0" y="0"/>
                </a:moveTo>
                <a:lnTo>
                  <a:pt x="8039500" y="0"/>
                </a:lnTo>
                <a:lnTo>
                  <a:pt x="8039500" y="7154048"/>
                </a:lnTo>
                <a:lnTo>
                  <a:pt x="0" y="715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90858" y="1533290"/>
            <a:ext cx="1099353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Carriers-Bagadi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19791" y="2823352"/>
            <a:ext cx="13448419" cy="5099964"/>
          </a:xfrm>
          <a:custGeom>
            <a:avLst/>
            <a:gdLst/>
            <a:ahLst/>
            <a:cxnLst/>
            <a:rect l="l" t="t" r="r" b="b"/>
            <a:pathLst>
              <a:path w="13448419" h="5099964">
                <a:moveTo>
                  <a:pt x="0" y="0"/>
                </a:moveTo>
                <a:lnTo>
                  <a:pt x="13448418" y="0"/>
                </a:lnTo>
                <a:lnTo>
                  <a:pt x="13448418" y="5099964"/>
                </a:lnTo>
                <a:lnTo>
                  <a:pt x="0" y="5099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34246" y="1537887"/>
            <a:ext cx="9553079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9654" y="2685767"/>
            <a:ext cx="13581921" cy="5069712"/>
          </a:xfrm>
          <a:custGeom>
            <a:avLst/>
            <a:gdLst/>
            <a:ahLst/>
            <a:cxnLst/>
            <a:rect l="l" t="t" r="r" b="b"/>
            <a:pathLst>
              <a:path w="13581921" h="5069712">
                <a:moveTo>
                  <a:pt x="0" y="0"/>
                </a:moveTo>
                <a:lnTo>
                  <a:pt x="13581921" y="0"/>
                </a:lnTo>
                <a:lnTo>
                  <a:pt x="13581921" y="5069711"/>
                </a:lnTo>
                <a:lnTo>
                  <a:pt x="0" y="506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34246" y="1537887"/>
            <a:ext cx="9553079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4037" y="2593294"/>
            <a:ext cx="12660114" cy="5292802"/>
          </a:xfrm>
          <a:custGeom>
            <a:avLst/>
            <a:gdLst/>
            <a:ahLst/>
            <a:cxnLst/>
            <a:rect l="l" t="t" r="r" b="b"/>
            <a:pathLst>
              <a:path w="12660114" h="5292802">
                <a:moveTo>
                  <a:pt x="0" y="0"/>
                </a:moveTo>
                <a:lnTo>
                  <a:pt x="12660115" y="0"/>
                </a:lnTo>
                <a:lnTo>
                  <a:pt x="12660115" y="5292803"/>
                </a:lnTo>
                <a:lnTo>
                  <a:pt x="0" y="529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34246" y="1537887"/>
            <a:ext cx="9553079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2706" y="2998745"/>
            <a:ext cx="14272694" cy="5133269"/>
          </a:xfrm>
          <a:custGeom>
            <a:avLst/>
            <a:gdLst/>
            <a:ahLst/>
            <a:cxnLst/>
            <a:rect l="l" t="t" r="r" b="b"/>
            <a:pathLst>
              <a:path w="14272694" h="5133269">
                <a:moveTo>
                  <a:pt x="0" y="0"/>
                </a:moveTo>
                <a:lnTo>
                  <a:pt x="14272694" y="0"/>
                </a:lnTo>
                <a:lnTo>
                  <a:pt x="14272694" y="5133269"/>
                </a:lnTo>
                <a:lnTo>
                  <a:pt x="0" y="5133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34246" y="1537887"/>
            <a:ext cx="9553079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MIMO-OFDM Channel Estimation using Pilot Carriers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5301" y="2648039"/>
            <a:ext cx="12391420" cy="6164732"/>
          </a:xfrm>
          <a:custGeom>
            <a:avLst/>
            <a:gdLst/>
            <a:ahLst/>
            <a:cxnLst/>
            <a:rect l="l" t="t" r="r" b="b"/>
            <a:pathLst>
              <a:path w="12391420" h="6164732">
                <a:moveTo>
                  <a:pt x="0" y="0"/>
                </a:moveTo>
                <a:lnTo>
                  <a:pt x="12391420" y="0"/>
                </a:lnTo>
                <a:lnTo>
                  <a:pt x="12391420" y="6164732"/>
                </a:lnTo>
                <a:lnTo>
                  <a:pt x="0" y="6164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6144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321" y="1686014"/>
            <a:ext cx="337036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NMSE COMPARISON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48576" y="2398856"/>
            <a:ext cx="13388508" cy="5489288"/>
          </a:xfrm>
          <a:custGeom>
            <a:avLst/>
            <a:gdLst/>
            <a:ahLst/>
            <a:cxnLst/>
            <a:rect l="l" t="t" r="r" b="b"/>
            <a:pathLst>
              <a:path w="13388508" h="5489288">
                <a:moveTo>
                  <a:pt x="0" y="0"/>
                </a:moveTo>
                <a:lnTo>
                  <a:pt x="13388508" y="0"/>
                </a:lnTo>
                <a:lnTo>
                  <a:pt x="13388508" y="5489288"/>
                </a:lnTo>
                <a:lnTo>
                  <a:pt x="0" y="5489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7703" y="1561378"/>
            <a:ext cx="3084215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BER COMPARISON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39688" y="2285932"/>
            <a:ext cx="12686986" cy="6058036"/>
          </a:xfrm>
          <a:custGeom>
            <a:avLst/>
            <a:gdLst/>
            <a:ahLst/>
            <a:cxnLst/>
            <a:rect l="l" t="t" r="r" b="b"/>
            <a:pathLst>
              <a:path w="12686986" h="6058036">
                <a:moveTo>
                  <a:pt x="0" y="0"/>
                </a:moveTo>
                <a:lnTo>
                  <a:pt x="12686986" y="0"/>
                </a:lnTo>
                <a:lnTo>
                  <a:pt x="12686986" y="6058036"/>
                </a:lnTo>
                <a:lnTo>
                  <a:pt x="0" y="6058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6619" y="723900"/>
            <a:ext cx="1511511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COMPARISON RESULTS FROM PREVIOUS PAPERS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6619" y="1504882"/>
            <a:ext cx="347851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A-CDDCE vs BAGADI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5074" y="355719"/>
            <a:ext cx="13952205" cy="955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5520" lvl="1" indent="-402760" algn="l">
              <a:lnSpc>
                <a:spcPts val="4477"/>
              </a:lnSpc>
              <a:buFont typeface="Arial"/>
              <a:buChar char="•"/>
            </a:pPr>
            <a:r>
              <a:rPr lang="en-US" sz="373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Bagadi 2010 — Why it loses: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LS estimator ignores noise statistics completely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Interpolation handles only pilot locations, not ICI between subcarriers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No learning of channel statistics from data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Rayleigh assumption breaks under TDL-C fast fading at 120 km/h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NMSE plateaus at high SNR (no noise floor reduction)</a:t>
            </a:r>
          </a:p>
          <a:p>
            <a:pPr marL="805520" lvl="1" indent="-402760" algn="l">
              <a:lnSpc>
                <a:spcPts val="4477"/>
              </a:lnSpc>
              <a:buFont typeface="Arial"/>
              <a:buChar char="•"/>
            </a:pPr>
            <a:r>
              <a:rPr lang="en-US" sz="373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CDDCE — Why it partially wins but not fully: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Diffusion backbone learns channel distribution 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But fixed T=7 steps wastes computation at high SNR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No attention means frequency-time correlations are missed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Single deterministic pass — no uncertainty handling</a:t>
            </a:r>
          </a:p>
          <a:p>
            <a:pPr marL="805520" lvl="1" indent="-402760" algn="l">
              <a:lnSpc>
                <a:spcPts val="4477"/>
              </a:lnSpc>
              <a:buFont typeface="Arial"/>
              <a:buChar char="•"/>
            </a:pPr>
            <a:r>
              <a:rPr lang="en-US" sz="3730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A-CDDCE — Why it wins: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Adaptive-T uses fewer steps at high SNR (efficient + accurate)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DualAxisAttention captures both frequency and time correlations jointly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MC-Dropout gives robust uncertainty-averaged estimate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SNR embedding adapts the model behavior per channel quality</a:t>
            </a:r>
          </a:p>
          <a:p>
            <a:pPr marL="805520" lvl="1" indent="-402760" algn="l">
              <a:lnSpc>
                <a:spcPts val="4477"/>
              </a:lnSpc>
              <a:buAutoNum type="arabicPeriod"/>
            </a:pPr>
            <a:r>
              <a:rPr lang="en-US" sz="3730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DFT preprocessing removes noise before diffusion even starts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414" y="1855506"/>
            <a:ext cx="17086659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Among all methods, A-CDDCE performs the best in channel estimation accuracy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LS method shows the worst performance due to high sensitivity to noise and mismatch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CDDCE improves over LS, but uses fixed diffusion steps, limiting flexibility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 b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A-CDDCE outperforms both by using adaptive diffusion steps based on SNR</a:t>
            </a:r>
          </a:p>
          <a:p>
            <a:pPr algn="l">
              <a:lnSpc>
                <a:spcPts val="4864"/>
              </a:lnSpc>
            </a:pPr>
            <a:endParaRPr lang="en-US" sz="4053" b="1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13414" y="723900"/>
            <a:ext cx="2306836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560856"/>
            <a:ext cx="633263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 b="1" dirty="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NMSE: A-CDDCE &lt; CDDCE &lt;LS</a:t>
            </a:r>
          </a:p>
          <a:p>
            <a:pPr marL="875227" lvl="1" indent="-437614" algn="l">
              <a:lnSpc>
                <a:spcPts val="4864"/>
              </a:lnSpc>
              <a:buFont typeface="Arial"/>
              <a:buChar char="•"/>
            </a:pPr>
            <a:r>
              <a:rPr lang="en-US" sz="4053" b="1" dirty="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BER: A-CDDCE &lt; CDDCE &lt; 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1705" y="5427381"/>
            <a:ext cx="454054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4"/>
              </a:lnSpc>
              <a:spcBef>
                <a:spcPct val="0"/>
              </a:spcBef>
            </a:pPr>
            <a:r>
              <a:rPr lang="en-US" sz="4053" b="1">
                <a:solidFill>
                  <a:srgbClr val="7EC0D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PERFORMANCE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2080</Words>
  <Application>Microsoft Office PowerPoint</Application>
  <PresentationFormat>Custom</PresentationFormat>
  <Paragraphs>330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Barlow Condensed Bold</vt:lpstr>
      <vt:lpstr>Barlow Condensed Semi-Bold</vt:lpstr>
      <vt:lpstr>Barlow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Adaptive Diffusion for Low-Latency           and  Sustainable Channel Estimation</dc:title>
  <cp:lastModifiedBy>Pradeepa JaiSankar</cp:lastModifiedBy>
  <cp:revision>4</cp:revision>
  <dcterms:created xsi:type="dcterms:W3CDTF">2006-08-16T00:00:00Z</dcterms:created>
  <dcterms:modified xsi:type="dcterms:W3CDTF">2026-04-09T14:37:59Z</dcterms:modified>
  <dc:identifier>DAG-Ng-fv_E</dc:identifier>
</cp:coreProperties>
</file>